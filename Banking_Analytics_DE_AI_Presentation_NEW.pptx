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4" r:id="rId5"/>
    <p:sldId id="265" r:id="rId6"/>
    <p:sldId id="259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11" autoAdjust="0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459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3183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572000"/>
            <a:ext cx="4114800" cy="41148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kern="0" spc="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ENGINEERING  •DATA SCIENCE &amp; AI  •  BUSINESS INTELLIGENCE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10195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 Analytics &amp; AI ASSISTANT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Pipeline with AI-Powered Insights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2194560" cy="0"/>
          </a:xfrm>
          <a:prstGeom prst="line">
            <a:avLst/>
          </a:prstGeom>
          <a:noFill/>
          <a:ln w="3175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976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pipeline that ingests raw banking data, refines it through a Bronze–Silver–Gold architecture, automates it with Airflow, and layers a Gemini-powered AI application on top for natural-language insights.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Ashwini Giri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3846" y="6309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B.E. Information Technology  |  Data Engineering &amp; AI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69966" y="322217"/>
            <a:ext cx="6222274" cy="45881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200"/>
              </a:lnSpc>
            </a:pPr>
            <a:r>
              <a:rPr lang="en-US" sz="1600" dirty="0"/>
              <a:t>This is an end-to-end Banking Data Engineering pipeline that extracts raw banking customer data, processes it </a:t>
            </a:r>
            <a:r>
              <a:rPr lang="en-US" sz="1600"/>
              <a:t>using Py</a:t>
            </a:r>
            <a:r>
              <a:rPr lang="en-US" sz="1600" dirty="0"/>
              <a:t>-</a:t>
            </a:r>
            <a:r>
              <a:rPr lang="en-US" sz="1600"/>
              <a:t>Spark</a:t>
            </a:r>
            <a:r>
              <a:rPr lang="en-US" sz="1600" dirty="0"/>
              <a:t>, transformed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through a Medallion Architecture</a:t>
            </a:r>
            <a:r>
              <a:rPr lang="en-US" sz="1600" dirty="0"/>
              <a:t>  Bronze-Silver-Gold architecture, stores the processed data in PostgreSQL, automates the workflow using Airflow,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containerized with Docker,</a:t>
            </a:r>
            <a:r>
              <a:rPr lang="en-US" sz="1600" dirty="0"/>
              <a:t> provides analytics through Power BI and build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Gemini-based AI application</a:t>
            </a:r>
            <a:r>
              <a:rPr lang="en-US" sz="1600" dirty="0"/>
              <a:t>.</a:t>
            </a:r>
          </a:p>
          <a:p>
            <a:pPr marL="0" indent="0">
              <a:lnSpc>
                <a:spcPts val="2200"/>
              </a:lnSpc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1874520" cy="1417320"/>
          </a:xfrm>
          <a:prstGeom prst="rect">
            <a:avLst/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39319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45,211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45720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 Processed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3794760"/>
            <a:ext cx="1874520" cy="1417320"/>
          </a:xfrm>
          <a:prstGeom prst="rect">
            <a:avLst/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88920" y="39319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88920" y="45720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Layers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3794760"/>
            <a:ext cx="1874520" cy="1417320"/>
          </a:xfrm>
          <a:prstGeom prst="rect">
            <a:avLst/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39319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92040" y="45720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Tables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03720" y="1554480"/>
            <a:ext cx="4754880" cy="47091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7269480" y="18105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Covers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69480" y="2331720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7269480" y="23317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84" dirty="0"/>
          </a:p>
        </p:txBody>
      </p:sp>
      <p:sp>
        <p:nvSpPr>
          <p:cNvPr id="18" name="Text 16"/>
          <p:cNvSpPr/>
          <p:nvPr/>
        </p:nvSpPr>
        <p:spPr>
          <a:xfrm>
            <a:off x="7726680" y="22768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26680" y="253288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loaded with PySpark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69480" y="2990088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29900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84" dirty="0"/>
          </a:p>
        </p:txBody>
      </p:sp>
      <p:sp>
        <p:nvSpPr>
          <p:cNvPr id="22" name="Text 20"/>
          <p:cNvSpPr/>
          <p:nvPr/>
        </p:nvSpPr>
        <p:spPr>
          <a:xfrm>
            <a:off x="7726680" y="29352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26680" y="3191256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+ business logic across 3 layers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69480" y="3648456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5" name="Text 23"/>
          <p:cNvSpPr/>
          <p:nvPr/>
        </p:nvSpPr>
        <p:spPr>
          <a:xfrm>
            <a:off x="7269480" y="36484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84" dirty="0"/>
          </a:p>
        </p:txBody>
      </p:sp>
      <p:sp>
        <p:nvSpPr>
          <p:cNvPr id="26" name="Text 24"/>
          <p:cNvSpPr/>
          <p:nvPr/>
        </p:nvSpPr>
        <p:spPr>
          <a:xfrm>
            <a:off x="7726680" y="35935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726680" y="3849624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with bronze / silver / gold schemas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269480" y="4306824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9" name="Text 27"/>
          <p:cNvSpPr/>
          <p:nvPr/>
        </p:nvSpPr>
        <p:spPr>
          <a:xfrm>
            <a:off x="7269480" y="43068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84" dirty="0"/>
          </a:p>
        </p:txBody>
      </p:sp>
      <p:sp>
        <p:nvSpPr>
          <p:cNvPr id="30" name="Text 28"/>
          <p:cNvSpPr/>
          <p:nvPr/>
        </p:nvSpPr>
        <p:spPr>
          <a:xfrm>
            <a:off x="7726680" y="42519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726680" y="450799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DAG orchestration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269480" y="4965192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3" name="Text 31"/>
          <p:cNvSpPr/>
          <p:nvPr/>
        </p:nvSpPr>
        <p:spPr>
          <a:xfrm>
            <a:off x="7269480" y="4965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84" dirty="0"/>
          </a:p>
        </p:txBody>
      </p:sp>
      <p:sp>
        <p:nvSpPr>
          <p:cNvPr id="34" name="Text 32"/>
          <p:cNvSpPr/>
          <p:nvPr/>
        </p:nvSpPr>
        <p:spPr>
          <a:xfrm>
            <a:off x="7726680" y="49103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726680" y="51663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containerized with Docker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269480" y="5623560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7" name="Text 35"/>
          <p:cNvSpPr/>
          <p:nvPr/>
        </p:nvSpPr>
        <p:spPr>
          <a:xfrm>
            <a:off x="7269480" y="56235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84" dirty="0"/>
          </a:p>
        </p:txBody>
      </p:sp>
      <p:sp>
        <p:nvSpPr>
          <p:cNvPr id="38" name="Text 36"/>
          <p:cNvSpPr/>
          <p:nvPr/>
        </p:nvSpPr>
        <p:spPr>
          <a:xfrm>
            <a:off x="7726680" y="55686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+ AI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726680" y="582472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+ Gemini AI application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AI Project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core goals guided the design of this end-to-end pipeline.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12064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56816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568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36" dirty="0"/>
          </a:p>
        </p:txBody>
      </p:sp>
      <p:sp>
        <p:nvSpPr>
          <p:cNvPr id="8" name="Text 6"/>
          <p:cNvSpPr/>
          <p:nvPr/>
        </p:nvSpPr>
        <p:spPr>
          <a:xfrm>
            <a:off x="1234440" y="187452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ETL Pipeline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224028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 to business-ready tables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89320" y="1783080"/>
            <a:ext cx="512064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1956816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19568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36" dirty="0"/>
          </a:p>
        </p:txBody>
      </p:sp>
      <p:sp>
        <p:nvSpPr>
          <p:cNvPr id="13" name="Text 11"/>
          <p:cNvSpPr/>
          <p:nvPr/>
        </p:nvSpPr>
        <p:spPr>
          <a:xfrm>
            <a:off x="6675120" y="187452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Medallion Architecture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224028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Bronze, Silver, and Gold data layers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862072"/>
            <a:ext cx="512064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03580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0358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36" dirty="0"/>
          </a:p>
        </p:txBody>
      </p:sp>
      <p:sp>
        <p:nvSpPr>
          <p:cNvPr id="18" name="Text 16"/>
          <p:cNvSpPr/>
          <p:nvPr/>
        </p:nvSpPr>
        <p:spPr>
          <a:xfrm>
            <a:off x="1234440" y="2953512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Transform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3319272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Deduplicate, validate, and standardize records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9320" y="2862072"/>
            <a:ext cx="512064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303580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30358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36" dirty="0"/>
          </a:p>
        </p:txBody>
      </p:sp>
      <p:sp>
        <p:nvSpPr>
          <p:cNvPr id="23" name="Text 21"/>
          <p:cNvSpPr/>
          <p:nvPr/>
        </p:nvSpPr>
        <p:spPr>
          <a:xfrm>
            <a:off x="6675120" y="2953512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Business Summary Tables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0" y="3319272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deposit, job, education, marital, month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941064"/>
            <a:ext cx="512064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411480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114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36" dirty="0"/>
          </a:p>
        </p:txBody>
      </p:sp>
      <p:sp>
        <p:nvSpPr>
          <p:cNvPr id="28" name="Text 26"/>
          <p:cNvSpPr/>
          <p:nvPr/>
        </p:nvSpPr>
        <p:spPr>
          <a:xfrm>
            <a:off x="1234440" y="4032504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Data in PostgreSQL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34440" y="4398264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query-ready data warehouse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89320" y="3941064"/>
            <a:ext cx="512064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411480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4114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36" dirty="0"/>
          </a:p>
        </p:txBody>
      </p:sp>
      <p:sp>
        <p:nvSpPr>
          <p:cNvPr id="33" name="Text 31"/>
          <p:cNvSpPr/>
          <p:nvPr/>
        </p:nvSpPr>
        <p:spPr>
          <a:xfrm>
            <a:off x="6675120" y="4032504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with Apache Airflow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75120" y="4398264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Scheduled, monitored, retry-safe workflow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020056"/>
            <a:ext cx="512064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1520" y="519379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51937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36" dirty="0"/>
          </a:p>
        </p:txBody>
      </p:sp>
      <p:sp>
        <p:nvSpPr>
          <p:cNvPr id="38" name="Text 36"/>
          <p:cNvSpPr/>
          <p:nvPr/>
        </p:nvSpPr>
        <p:spPr>
          <a:xfrm>
            <a:off x="1234440" y="5111496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with Docker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234440" y="5477256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Portable, consistent runtime environment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89320" y="5020056"/>
            <a:ext cx="512064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72200" y="519379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6172200" y="51937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36" dirty="0"/>
          </a:p>
        </p:txBody>
      </p:sp>
      <p:sp>
        <p:nvSpPr>
          <p:cNvPr id="43" name="Text 41"/>
          <p:cNvSpPr/>
          <p:nvPr/>
        </p:nvSpPr>
        <p:spPr>
          <a:xfrm>
            <a:off x="6675120" y="5111496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Power BI Dashboard &amp; AI Application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675120" y="5477256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Interactive, business-facing visual insights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AI Project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CFBAF5-8960-3061-FFF5-26D1490043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6" b="33529"/>
          <a:stretch>
            <a:fillRect/>
          </a:stretch>
        </p:blipFill>
        <p:spPr>
          <a:xfrm>
            <a:off x="10568" y="494935"/>
            <a:ext cx="12111582" cy="555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248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5FBA5E-7889-09ED-248F-58C534676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43391"/>
            <a:ext cx="11017250" cy="655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460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 Used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of the pipeline — from processing to automation to visualization — uses an industry-standard tool.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20440" cy="141732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37744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463040" y="227685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63040" y="262432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2057400"/>
            <a:ext cx="3520440" cy="141732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11" name="Shape 9"/>
          <p:cNvSpPr/>
          <p:nvPr/>
        </p:nvSpPr>
        <p:spPr>
          <a:xfrm>
            <a:off x="4498848" y="237744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4498848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5212080" y="227685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212080" y="262432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data processing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2057400"/>
            <a:ext cx="3520440" cy="141732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16" name="Shape 14"/>
          <p:cNvSpPr/>
          <p:nvPr/>
        </p:nvSpPr>
        <p:spPr>
          <a:xfrm>
            <a:off x="8247888" y="237744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8247888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8961120" y="227685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&amp; PostgreSQL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961120" y="262432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300"/>
              </a:lnSpc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&amp; transformations</a:t>
            </a:r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(bronze/silver/gold)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3520440" cy="1417320"/>
          </a:xfrm>
          <a:prstGeom prst="rect">
            <a:avLst/>
          </a:prstGeom>
          <a:solidFill>
            <a:srgbClr val="141B4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1" name="Shape 19"/>
          <p:cNvSpPr/>
          <p:nvPr/>
        </p:nvSpPr>
        <p:spPr>
          <a:xfrm>
            <a:off x="749808" y="402336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1463040" y="392277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463040" y="427024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97680" y="3703320"/>
            <a:ext cx="3520440" cy="141732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26" name="Shape 24"/>
          <p:cNvSpPr/>
          <p:nvPr/>
        </p:nvSpPr>
        <p:spPr>
          <a:xfrm>
            <a:off x="4498848" y="402336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7" name="Text 25"/>
          <p:cNvSpPr/>
          <p:nvPr/>
        </p:nvSpPr>
        <p:spPr>
          <a:xfrm>
            <a:off x="4498848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</a:t>
            </a:r>
            <a:endParaRPr lang="en-US" sz="1430" dirty="0"/>
          </a:p>
        </p:txBody>
      </p:sp>
      <p:sp>
        <p:nvSpPr>
          <p:cNvPr id="28" name="Text 26"/>
          <p:cNvSpPr/>
          <p:nvPr/>
        </p:nvSpPr>
        <p:spPr>
          <a:xfrm>
            <a:off x="5212080" y="392277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212080" y="427024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orchestration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0" y="3703320"/>
            <a:ext cx="3520440" cy="141732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31" name="Shape 29"/>
          <p:cNvSpPr/>
          <p:nvPr/>
        </p:nvSpPr>
        <p:spPr>
          <a:xfrm>
            <a:off x="8247888" y="402336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2" name="Text 30"/>
          <p:cNvSpPr/>
          <p:nvPr/>
        </p:nvSpPr>
        <p:spPr>
          <a:xfrm>
            <a:off x="8247888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</a:t>
            </a:r>
            <a:endParaRPr lang="en-US" sz="1430" dirty="0"/>
          </a:p>
        </p:txBody>
      </p:sp>
      <p:sp>
        <p:nvSpPr>
          <p:cNvPr id="33" name="Text 31"/>
          <p:cNvSpPr/>
          <p:nvPr/>
        </p:nvSpPr>
        <p:spPr>
          <a:xfrm>
            <a:off x="8961120" y="392277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961120" y="427024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&amp; deployment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349240"/>
            <a:ext cx="3520440" cy="1261872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36" name="Shape 34"/>
          <p:cNvSpPr/>
          <p:nvPr/>
        </p:nvSpPr>
        <p:spPr>
          <a:xfrm>
            <a:off x="749808" y="566928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7" name="Text 35"/>
          <p:cNvSpPr/>
          <p:nvPr/>
        </p:nvSpPr>
        <p:spPr>
          <a:xfrm>
            <a:off x="749808" y="5669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430" dirty="0"/>
          </a:p>
        </p:txBody>
      </p:sp>
      <p:sp>
        <p:nvSpPr>
          <p:cNvPr id="38" name="Text 36"/>
          <p:cNvSpPr/>
          <p:nvPr/>
        </p:nvSpPr>
        <p:spPr>
          <a:xfrm>
            <a:off x="1463040" y="556869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463040" y="591616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reporting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297680" y="5349240"/>
            <a:ext cx="3520440" cy="1261872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41" name="Shape 39"/>
          <p:cNvSpPr/>
          <p:nvPr/>
        </p:nvSpPr>
        <p:spPr>
          <a:xfrm>
            <a:off x="4498848" y="566928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2" name="Text 40"/>
          <p:cNvSpPr/>
          <p:nvPr/>
        </p:nvSpPr>
        <p:spPr>
          <a:xfrm>
            <a:off x="4498848" y="5669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30" dirty="0"/>
          </a:p>
        </p:txBody>
      </p:sp>
      <p:sp>
        <p:nvSpPr>
          <p:cNvPr id="43" name="Text 41"/>
          <p:cNvSpPr/>
          <p:nvPr/>
        </p:nvSpPr>
        <p:spPr>
          <a:xfrm>
            <a:off x="5212080" y="556869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5212080" y="591616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 layer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046720" y="5349240"/>
            <a:ext cx="3520440" cy="1261872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46" name="Shape 44"/>
          <p:cNvSpPr/>
          <p:nvPr/>
        </p:nvSpPr>
        <p:spPr>
          <a:xfrm>
            <a:off x="8247888" y="566928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7" name="Text 45"/>
          <p:cNvSpPr/>
          <p:nvPr/>
        </p:nvSpPr>
        <p:spPr>
          <a:xfrm>
            <a:off x="8247888" y="5669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430" dirty="0"/>
          </a:p>
        </p:txBody>
      </p:sp>
      <p:sp>
        <p:nvSpPr>
          <p:cNvPr id="48" name="Text 46"/>
          <p:cNvSpPr/>
          <p:nvPr/>
        </p:nvSpPr>
        <p:spPr>
          <a:xfrm>
            <a:off x="8961120" y="556869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8961120" y="591616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64739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2" name="Text 48">
            <a:extLst>
              <a:ext uri="{FF2B5EF4-FFF2-40B4-BE49-F238E27FC236}">
                <a16:creationId xmlns:a16="http://schemas.microsoft.com/office/drawing/2014/main" id="{28715A09-369A-A666-4E10-42AED46CB0B9}"/>
              </a:ext>
            </a:extLst>
          </p:cNvPr>
          <p:cNvSpPr/>
          <p:nvPr/>
        </p:nvSpPr>
        <p:spPr>
          <a:xfrm>
            <a:off x="320040" y="66111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6156" y="7955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: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572" dirty="0"/>
          </a:p>
        </p:txBody>
      </p:sp>
      <p:sp>
        <p:nvSpPr>
          <p:cNvPr id="9" name="Text 7"/>
          <p:cNvSpPr/>
          <p:nvPr/>
        </p:nvSpPr>
        <p:spPr>
          <a:xfrm>
            <a:off x="548640" y="24505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572" dirty="0"/>
          </a:p>
        </p:txBody>
      </p:sp>
      <p:sp>
        <p:nvSpPr>
          <p:cNvPr id="10" name="Text 8"/>
          <p:cNvSpPr/>
          <p:nvPr/>
        </p:nvSpPr>
        <p:spPr>
          <a:xfrm>
            <a:off x="896112" y="896112"/>
            <a:ext cx="4937760" cy="3511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29352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572" dirty="0"/>
          </a:p>
        </p:txBody>
      </p:sp>
      <p:sp>
        <p:nvSpPr>
          <p:cNvPr id="15" name="Text 13"/>
          <p:cNvSpPr/>
          <p:nvPr/>
        </p:nvSpPr>
        <p:spPr>
          <a:xfrm>
            <a:off x="548640" y="34198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72" dirty="0"/>
          </a:p>
        </p:txBody>
      </p:sp>
      <p:sp>
        <p:nvSpPr>
          <p:cNvPr id="18" name="Text 16"/>
          <p:cNvSpPr/>
          <p:nvPr/>
        </p:nvSpPr>
        <p:spPr>
          <a:xfrm>
            <a:off x="548640" y="39044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72" dirty="0"/>
          </a:p>
        </p:txBody>
      </p:sp>
      <p:sp>
        <p:nvSpPr>
          <p:cNvPr id="21" name="Text 19"/>
          <p:cNvSpPr/>
          <p:nvPr/>
        </p:nvSpPr>
        <p:spPr>
          <a:xfrm>
            <a:off x="548640" y="43891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572" dirty="0"/>
          </a:p>
        </p:txBody>
      </p:sp>
      <p:sp>
        <p:nvSpPr>
          <p:cNvPr id="23" name="Text 21"/>
          <p:cNvSpPr/>
          <p:nvPr/>
        </p:nvSpPr>
        <p:spPr>
          <a:xfrm>
            <a:off x="6309360" y="1508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 : 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309360" y="1965960"/>
            <a:ext cx="170992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965960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65592" y="1965960"/>
            <a:ext cx="1101852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8165592" y="1965960"/>
            <a:ext cx="11018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/ ELT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413748" y="1965960"/>
            <a:ext cx="2231136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9413748" y="1965960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09360" y="2496312"/>
            <a:ext cx="1449324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2496312"/>
            <a:ext cx="14493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&amp; SQL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904988" y="2496312"/>
            <a:ext cx="118872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7904988" y="249631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240012" y="2496312"/>
            <a:ext cx="84124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9240012" y="2496312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227564" y="2496312"/>
            <a:ext cx="1536192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10227564" y="2496312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09360" y="3026664"/>
            <a:ext cx="1014984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3026664"/>
            <a:ext cx="1014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470648" y="3026664"/>
            <a:ext cx="118872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7470648" y="302666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805672" y="3026664"/>
            <a:ext cx="214426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8805672" y="3026664"/>
            <a:ext cx="21442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Integration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AI Project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1605010-C362-6069-E579-FFBB0B94356C}"/>
              </a:ext>
            </a:extLst>
          </p:cNvPr>
          <p:cNvSpPr txBox="1"/>
          <p:nvPr/>
        </p:nvSpPr>
        <p:spPr>
          <a:xfrm flipH="1">
            <a:off x="339852" y="1535971"/>
            <a:ext cx="58232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Added a Gemini AI application for natural-language insights.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Built a complete end-to-end Data Engineering pipeline for banking data.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Used </a:t>
            </a:r>
            <a:r>
              <a:rPr lang="en-US" dirty="0">
                <a:solidFill>
                  <a:srgbClr val="1E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Medallion</a:t>
            </a:r>
            <a:r>
              <a:rPr lang="en-IN" dirty="0"/>
              <a:t> Architecture to clean and organize raw data.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Automated the entire workflow using Apache Airflow.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Used Docker to make the project portable and easy to deploy.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Stored all data in PostgreSQL for structured access.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Built a Power BI dashboard for visual business insights.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Project shows strong skills in both Data Engineering and AI integration.</a:t>
            </a:r>
          </a:p>
          <a:p>
            <a:br>
              <a:rPr lang="en-IN" dirty="0"/>
            </a:br>
            <a:br>
              <a:rPr lang="en-IN" dirty="0"/>
            </a:b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524</Words>
  <Application>Microsoft Office PowerPoint</Application>
  <PresentationFormat>Widescreen</PresentationFormat>
  <Paragraphs>126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ASHWINI GIRI</cp:lastModifiedBy>
  <cp:revision>30</cp:revision>
  <dcterms:created xsi:type="dcterms:W3CDTF">2026-08-21T05:04:08Z</dcterms:created>
  <dcterms:modified xsi:type="dcterms:W3CDTF">2026-09-02T16:56:26Z</dcterms:modified>
</cp:coreProperties>
</file>