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9" d="100"/>
          <a:sy n="49" d="100"/>
        </p:scale>
        <p:origin x="1302" y="5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18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ENGINEERING  •DATA SCIENCE &amp; AI  •  BUSINESS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195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Analytics &amp; AI ASSISTANT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with AI-Powered Insights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19456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that ingests raw banking data, refines it through a Bronze–Silver–Gold architecture, automates it with Airflow, and layers a Gemini-powered AI application on top for natural-language insights.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Ashwini Giri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Information Technology  |  Data Engineering &amp; AI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9966" y="322217"/>
            <a:ext cx="6222274" cy="4588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1600" dirty="0"/>
              <a:t>This is an end-to-end Banking Data Engineering pipeline that extracts raw banking customer data, processes it using </a:t>
            </a:r>
            <a:r>
              <a:rPr lang="en-US" sz="1600" dirty="0" err="1"/>
              <a:t>PySpark</a:t>
            </a:r>
            <a:r>
              <a:rPr lang="en-US" sz="1600" dirty="0"/>
              <a:t>, transformed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through a Medallion Architecture</a:t>
            </a:r>
            <a:r>
              <a:rPr lang="en-US" sz="1600" dirty="0"/>
              <a:t>  Bronze-Silver-Gold architecture, stores the processed data in PostgreSQL, automates the workflow using Airflow,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containerized with Docker,</a:t>
            </a:r>
            <a:r>
              <a:rPr lang="en-US" sz="1600" dirty="0"/>
              <a:t> provides analytics through Power BI and build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Gemini-based AI application</a:t>
            </a:r>
            <a:r>
              <a:rPr lang="en-US" sz="1600" dirty="0"/>
              <a:t>.</a:t>
            </a:r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874520" cy="14173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3931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45,211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Processed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3794760"/>
            <a:ext cx="1874520" cy="14173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3931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88920" y="4572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Layers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794760"/>
            <a:ext cx="1874520" cy="14173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3931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4572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4754880" cy="4709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7269480" y="1810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Covers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69480" y="233172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331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18" name="Text 16"/>
          <p:cNvSpPr/>
          <p:nvPr/>
        </p:nvSpPr>
        <p:spPr>
          <a:xfrm>
            <a:off x="7726680" y="22768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26680" y="2532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loaded with PySpark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9480" y="2990088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2990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22" name="Text 20"/>
          <p:cNvSpPr/>
          <p:nvPr/>
        </p:nvSpPr>
        <p:spPr>
          <a:xfrm>
            <a:off x="7726680" y="2935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319125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+ business logic across 3 layers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9480" y="3648456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3648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26" name="Text 24"/>
          <p:cNvSpPr/>
          <p:nvPr/>
        </p:nvSpPr>
        <p:spPr>
          <a:xfrm>
            <a:off x="772668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26680" y="384962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bronze / silver / gold schemas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69480" y="4306824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4306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30" name="Text 28"/>
          <p:cNvSpPr/>
          <p:nvPr/>
        </p:nvSpPr>
        <p:spPr>
          <a:xfrm>
            <a:off x="7726680" y="4251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26680" y="45079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orchestration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69480" y="4965192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4965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34" name="Text 32"/>
          <p:cNvSpPr/>
          <p:nvPr/>
        </p:nvSpPr>
        <p:spPr>
          <a:xfrm>
            <a:off x="7726680" y="4910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26680" y="51663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containerized with Docker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562356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5623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4" dirty="0"/>
          </a:p>
        </p:txBody>
      </p:sp>
      <p:sp>
        <p:nvSpPr>
          <p:cNvPr id="38" name="Text 36"/>
          <p:cNvSpPr/>
          <p:nvPr/>
        </p:nvSpPr>
        <p:spPr>
          <a:xfrm>
            <a:off x="7726680" y="5568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AI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26680" y="58247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+ Gemini AI application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core goals guided the design of this end-to-end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568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56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business-ready tables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9568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956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6675120" y="187452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Medallion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402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Silver, and Gold data layers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62072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3580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1234440" y="295351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319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Deduplicate, validate, and standardize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862072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03580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3" name="Text 21"/>
          <p:cNvSpPr/>
          <p:nvPr/>
        </p:nvSpPr>
        <p:spPr>
          <a:xfrm>
            <a:off x="6675120" y="295351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Business Summary Tables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319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deposit, job, education, marital, month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41064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1148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28" name="Text 26"/>
          <p:cNvSpPr/>
          <p:nvPr/>
        </p:nvSpPr>
        <p:spPr>
          <a:xfrm>
            <a:off x="1234440" y="403250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in PostgreSQL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3982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query-ready data warehouse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3941064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41148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6" dirty="0"/>
          </a:p>
        </p:txBody>
      </p:sp>
      <p:sp>
        <p:nvSpPr>
          <p:cNvPr id="33" name="Text 31"/>
          <p:cNvSpPr/>
          <p:nvPr/>
        </p:nvSpPr>
        <p:spPr>
          <a:xfrm>
            <a:off x="6675120" y="403250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with Apache Airflow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43982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monitored, retry-safe workflow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020056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19379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193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36" dirty="0"/>
          </a:p>
        </p:txBody>
      </p:sp>
      <p:sp>
        <p:nvSpPr>
          <p:cNvPr id="38" name="Text 36"/>
          <p:cNvSpPr/>
          <p:nvPr/>
        </p:nvSpPr>
        <p:spPr>
          <a:xfrm>
            <a:off x="1234440" y="511149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Docker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34440" y="547725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consistent runtime environment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5020056"/>
            <a:ext cx="51206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519379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5193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36" dirty="0"/>
          </a:p>
        </p:txBody>
      </p:sp>
      <p:sp>
        <p:nvSpPr>
          <p:cNvPr id="43" name="Text 41"/>
          <p:cNvSpPr/>
          <p:nvPr/>
        </p:nvSpPr>
        <p:spPr>
          <a:xfrm>
            <a:off x="6675120" y="511149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 &amp; AI Application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75120" y="547725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business-facing visual insights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pipeline — from processing to automation to visualization — uses an industry-standard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774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2624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1" name="Shape 9"/>
          <p:cNvSpPr/>
          <p:nvPr/>
        </p:nvSpPr>
        <p:spPr>
          <a:xfrm>
            <a:off x="4498848" y="23774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521208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12080" y="2624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processing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23774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96112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&amp; PostgreSQL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0" y="2624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300"/>
              </a:lnSpc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transformations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(bronze/silver/gold)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463040" y="3922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63040" y="42702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70332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98848" y="4023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5212080" y="3922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12080" y="42702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703320"/>
            <a:ext cx="3520440" cy="14173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7888" y="4023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8961120" y="3922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961120" y="42702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deployment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3520440" cy="1261872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5669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430" dirty="0"/>
          </a:p>
        </p:txBody>
      </p:sp>
      <p:sp>
        <p:nvSpPr>
          <p:cNvPr id="38" name="Text 36"/>
          <p:cNvSpPr/>
          <p:nvPr/>
        </p:nvSpPr>
        <p:spPr>
          <a:xfrm>
            <a:off x="1463040" y="55686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63040" y="59161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5349240"/>
            <a:ext cx="3520440" cy="1261872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41" name="Shape 39"/>
          <p:cNvSpPr/>
          <p:nvPr/>
        </p:nvSpPr>
        <p:spPr>
          <a:xfrm>
            <a:off x="4498848" y="5669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2" name="Text 40"/>
          <p:cNvSpPr/>
          <p:nvPr/>
        </p:nvSpPr>
        <p:spPr>
          <a:xfrm>
            <a:off x="4498848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30" dirty="0"/>
          </a:p>
        </p:txBody>
      </p:sp>
      <p:sp>
        <p:nvSpPr>
          <p:cNvPr id="43" name="Text 41"/>
          <p:cNvSpPr/>
          <p:nvPr/>
        </p:nvSpPr>
        <p:spPr>
          <a:xfrm>
            <a:off x="5212080" y="55686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212080" y="59161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layer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5349240"/>
            <a:ext cx="3520440" cy="1261872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46" name="Shape 44"/>
          <p:cNvSpPr/>
          <p:nvPr/>
        </p:nvSpPr>
        <p:spPr>
          <a:xfrm>
            <a:off x="8247888" y="5669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8247888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30" dirty="0"/>
          </a:p>
        </p:txBody>
      </p:sp>
      <p:sp>
        <p:nvSpPr>
          <p:cNvPr id="48" name="Text 46"/>
          <p:cNvSpPr/>
          <p:nvPr/>
        </p:nvSpPr>
        <p:spPr>
          <a:xfrm>
            <a:off x="8961120" y="55686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961120" y="59161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28715A09-369A-A666-4E10-42AED46CB0B9}"/>
              </a:ext>
            </a:extLst>
          </p:cNvPr>
          <p:cNvSpPr/>
          <p:nvPr/>
        </p:nvSpPr>
        <p:spPr>
          <a:xfrm>
            <a:off x="320040" y="66111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 &amp;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6700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14600" y="32186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3741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14600" y="39227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0782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14600" y="46268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7823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81896" y="1810512"/>
            <a:ext cx="6230983" cy="46634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21488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Warehouse, the pipeline fans out: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2487168"/>
            <a:ext cx="58064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96712" y="26334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696712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196" dirty="0"/>
          </a:p>
        </p:txBody>
      </p:sp>
      <p:sp>
        <p:nvSpPr>
          <p:cNvPr id="27" name="Text 25"/>
          <p:cNvSpPr/>
          <p:nvPr/>
        </p:nvSpPr>
        <p:spPr>
          <a:xfrm>
            <a:off x="6309360" y="256946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 •  Automation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852928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Bronze → Silver → Gold → SCD Type 2 as a scheduled, monitored DAG with retry logic.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3639312"/>
            <a:ext cx="58064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96712" y="37856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696712" y="37856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96" dirty="0"/>
          </a:p>
        </p:txBody>
      </p:sp>
      <p:sp>
        <p:nvSpPr>
          <p:cNvPr id="32" name="Text 30"/>
          <p:cNvSpPr/>
          <p:nvPr/>
        </p:nvSpPr>
        <p:spPr>
          <a:xfrm>
            <a:off x="6309360" y="37216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•  Business Insights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005072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KPIs — customers, deposits, demographics, and monthly trends — for stakeholders.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32120" y="4791456"/>
            <a:ext cx="58064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96712" y="49377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5696712" y="4937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196" dirty="0"/>
          </a:p>
        </p:txBody>
      </p:sp>
      <p:sp>
        <p:nvSpPr>
          <p:cNvPr id="37" name="Text 35"/>
          <p:cNvSpPr/>
          <p:nvPr/>
        </p:nvSpPr>
        <p:spPr>
          <a:xfrm>
            <a:off x="6309360" y="4873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Application  •  AI Layer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5157216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natural-language interface on top of the gold-layer data for conversational insights.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5961888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containerizes every component for consistent, portable deployment across environments.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32A7666-0126-18CA-AAE7-C1A337B1B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6" y="1235096"/>
            <a:ext cx="5353107" cy="5622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9768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777240"/>
          </a:xfrm>
          <a:prstGeom prst="rect">
            <a:avLst/>
          </a:prstGeom>
          <a:solidFill>
            <a:srgbClr val="8C6A3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84248"/>
            <a:ext cx="3520440" cy="393192"/>
          </a:xfrm>
          <a:prstGeom prst="rect">
            <a:avLst/>
          </a:prstGeom>
          <a:solidFill>
            <a:srgbClr val="8C6A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Layer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 ingested data exactly as received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1810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1181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 or modifications applied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630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original records for traceability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212080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A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12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C6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bronze.customer_raw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5112" y="1600200"/>
            <a:ext cx="3520440" cy="429768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4325112" y="1600200"/>
            <a:ext cx="3520440" cy="777240"/>
          </a:xfrm>
          <a:prstGeom prst="rect">
            <a:avLst/>
          </a:prstGeom>
          <a:solidFill>
            <a:srgbClr val="5C647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25112" y="1984248"/>
            <a:ext cx="3520440" cy="393192"/>
          </a:xfrm>
          <a:prstGeom prst="rect">
            <a:avLst/>
          </a:prstGeom>
          <a:solidFill>
            <a:srgbClr val="5C6470"/>
          </a:solidFill>
          <a:ln/>
        </p:spPr>
      </p:sp>
      <p:sp>
        <p:nvSpPr>
          <p:cNvPr id="20" name="Text 18"/>
          <p:cNvSpPr/>
          <p:nvPr/>
        </p:nvSpPr>
        <p:spPr>
          <a:xfrm>
            <a:off x="4553712" y="1691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Layer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53712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82312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records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53712" y="311810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82312" y="31181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null values and trims whitespace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53712" y="36301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82312" y="3630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text and converts data types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414223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82312" y="41422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records for consistency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07992" y="5212080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C64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5212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silver.customer_clean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01584" y="1600200"/>
            <a:ext cx="3520440" cy="4297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8101584" y="1600200"/>
            <a:ext cx="3520440" cy="777240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01584" y="1984248"/>
            <a:ext cx="3520440" cy="393192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35" name="Text 33"/>
          <p:cNvSpPr/>
          <p:nvPr/>
        </p:nvSpPr>
        <p:spPr>
          <a:xfrm>
            <a:off x="8330184" y="1691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Layer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330184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30184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58784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customer, deposit &amp; job summaries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30184" y="311810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58784" y="31181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education &amp; marital summaries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30184" y="36301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58784" y="3630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monthly subscription analysis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30184" y="414223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58784" y="41422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3C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SCD Type 2 for history tracking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284464" y="5212080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4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75904" y="5212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94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gold.dim_customer_history +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B894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summary tables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AI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 &amp; Power BI Analytics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gold-layer data powers both a visual dashboard and a Gemini-based AI application.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43484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Application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the cleaned and summarized gold-layer tables, the AI application uses Google's Gemini model to let users interact with the banking data through natural language — turning structured warehouse data into conversational, easy-to-understand answers.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219456" cy="21945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43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624" dirty="0"/>
          </a:p>
        </p:txBody>
      </p:sp>
      <p:sp>
        <p:nvSpPr>
          <p:cNvPr id="12" name="Text 10"/>
          <p:cNvSpPr/>
          <p:nvPr/>
        </p:nvSpPr>
        <p:spPr>
          <a:xfrm>
            <a:off x="1234440" y="42885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PostgreSQL gold layer as its data source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782312"/>
            <a:ext cx="219456" cy="21945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823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624" dirty="0"/>
          </a:p>
        </p:txBody>
      </p:sp>
      <p:sp>
        <p:nvSpPr>
          <p:cNvPr id="15" name="Text 13"/>
          <p:cNvSpPr/>
          <p:nvPr/>
        </p:nvSpPr>
        <p:spPr>
          <a:xfrm>
            <a:off x="1234440" y="47274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Gemini to interpret questions and generate insights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221224"/>
            <a:ext cx="219456" cy="21945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212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624" dirty="0"/>
          </a:p>
        </p:txBody>
      </p:sp>
      <p:sp>
        <p:nvSpPr>
          <p:cNvPr id="18" name="Text 16"/>
          <p:cNvSpPr/>
          <p:nvPr/>
        </p:nvSpPr>
        <p:spPr>
          <a:xfrm>
            <a:off x="1234440" y="5166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KPIs into plain-language summaries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5660136"/>
            <a:ext cx="219456" cy="21945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660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624" dirty="0"/>
          </a:p>
        </p:txBody>
      </p:sp>
      <p:sp>
        <p:nvSpPr>
          <p:cNvPr id="21" name="Text 19"/>
          <p:cNvSpPr/>
          <p:nvPr/>
        </p:nvSpPr>
        <p:spPr>
          <a:xfrm>
            <a:off x="1234440" y="56052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the Power BI dashboard with a conversational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</a:p>
        </p:txBody>
      </p:sp>
      <p:sp>
        <p:nvSpPr>
          <p:cNvPr id="22" name="Shape 20"/>
          <p:cNvSpPr/>
          <p:nvPr/>
        </p:nvSpPr>
        <p:spPr>
          <a:xfrm>
            <a:off x="6400800" y="2107474"/>
            <a:ext cx="5077097" cy="40190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7178040" y="2286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refreshed directly from the gold-layer warehouse: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3337560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6647688" y="3337560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52560" y="3337560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9162288" y="3337560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</a:t>
            </a: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</a:p>
        </p:txBody>
      </p:sp>
      <p:sp>
        <p:nvSpPr>
          <p:cNvPr id="31" name="Shape 29"/>
          <p:cNvSpPr/>
          <p:nvPr/>
        </p:nvSpPr>
        <p:spPr>
          <a:xfrm>
            <a:off x="6537960" y="4041648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2" name="Text 30"/>
          <p:cNvSpPr/>
          <p:nvPr/>
        </p:nvSpPr>
        <p:spPr>
          <a:xfrm>
            <a:off x="6647688" y="4041648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</a:t>
            </a: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Balance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52560" y="4041648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4" name="Text 32"/>
          <p:cNvSpPr/>
          <p:nvPr/>
        </p:nvSpPr>
        <p:spPr>
          <a:xfrm>
            <a:off x="9162288" y="4041648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Job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4745736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6647688" y="4745736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Education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4745736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8" name="Text 36"/>
          <p:cNvSpPr/>
          <p:nvPr/>
        </p:nvSpPr>
        <p:spPr>
          <a:xfrm>
            <a:off x="9162288" y="4745736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Trend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5449824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0" name="Text 38"/>
          <p:cNvSpPr/>
          <p:nvPr/>
        </p:nvSpPr>
        <p:spPr>
          <a:xfrm>
            <a:off x="6647688" y="544982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Subscription Status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52560" y="5449824"/>
            <a:ext cx="233172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2" name="Text 40"/>
          <p:cNvSpPr/>
          <p:nvPr/>
        </p:nvSpPr>
        <p:spPr>
          <a:xfrm>
            <a:off x="9162288" y="544982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Panel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What's Next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10" name="Text 8"/>
          <p:cNvSpPr/>
          <p:nvPr/>
        </p:nvSpPr>
        <p:spPr>
          <a:xfrm>
            <a:off x="896112" y="896112"/>
            <a:ext cx="493776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15" name="Text 13"/>
          <p:cNvSpPr/>
          <p:nvPr/>
        </p:nvSpPr>
        <p:spPr>
          <a:xfrm>
            <a:off x="548640" y="3419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72" dirty="0"/>
          </a:p>
        </p:txBody>
      </p:sp>
      <p:sp>
        <p:nvSpPr>
          <p:cNvPr id="18" name="Text 16"/>
          <p:cNvSpPr/>
          <p:nvPr/>
        </p:nvSpPr>
        <p:spPr>
          <a:xfrm>
            <a:off x="548640" y="3904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72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572" dirty="0"/>
          </a:p>
        </p:txBody>
      </p:sp>
      <p:sp>
        <p:nvSpPr>
          <p:cNvPr id="23" name="Text 21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 : 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309360" y="1965960"/>
            <a:ext cx="170992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965960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65592" y="1965960"/>
            <a:ext cx="11018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165592" y="1965960"/>
            <a:ext cx="11018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13748" y="1965960"/>
            <a:ext cx="2231136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413748" y="196596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2496312"/>
            <a:ext cx="1449324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496312"/>
            <a:ext cx="14493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SQL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04988" y="2496312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904988" y="2496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240012" y="2496312"/>
            <a:ext cx="8412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9240012" y="2496312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227564" y="2496312"/>
            <a:ext cx="153619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10227564" y="249631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3026664"/>
            <a:ext cx="1014984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026664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70648" y="3026664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7470648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05672" y="3026664"/>
            <a:ext cx="214426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8805672" y="3026664"/>
            <a:ext cx="21442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Integration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3212" y="4946904"/>
            <a:ext cx="11091672" cy="1261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Loading   •   Kafka Streaming   •   Delta Lake   •   Azure Data Factory   •   Snowflake   •   AWS S3   •   Databricks   •   CI/CD Integration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605010-C362-6069-E579-FFBB0B94356C}"/>
              </a:ext>
            </a:extLst>
          </p:cNvPr>
          <p:cNvSpPr txBox="1"/>
          <p:nvPr/>
        </p:nvSpPr>
        <p:spPr>
          <a:xfrm flipH="1">
            <a:off x="302516" y="1365259"/>
            <a:ext cx="60556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Built a complete end-to-end Data Engineering pipeline for banking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US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</a:t>
            </a:r>
            <a:r>
              <a:rPr lang="en-IN" dirty="0"/>
              <a:t> Architecture to clean and organize raw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Automated the entire workflow using Apache Airflow.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Used Docker to make the project portable and easy to deploy.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Stored all data in PostgreSQL for structured access.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Added a Gemini AI application for natural-language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Built a Power BI dashboard for visual business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Project shows strong skills in both Data Engineering and AI integration.</a:t>
            </a:r>
          </a:p>
          <a:p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912</Words>
  <Application>Microsoft Office PowerPoint</Application>
  <PresentationFormat>Widescreen</PresentationFormat>
  <Paragraphs>212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ASHWINI GIRI</cp:lastModifiedBy>
  <cp:revision>14</cp:revision>
  <dcterms:created xsi:type="dcterms:W3CDTF">2026-08-21T05:04:08Z</dcterms:created>
  <dcterms:modified xsi:type="dcterms:W3CDTF">2026-08-21T06:15:03Z</dcterms:modified>
</cp:coreProperties>
</file>